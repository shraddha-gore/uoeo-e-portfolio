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4A9085"/>
          </a:solidFill>
          <a:ln w="12700">
            <a:solidFill>
              <a:srgbClr val="4A9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194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Rule-Based, Machine Learning,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Hybrid Dynamic Pricing Models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Stable and Customer-Centric Pricing in Retail SMEs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87168"/>
            <a:ext cx="4572000" cy="16459"/>
          </a:xfrm>
          <a:prstGeom prst="rect">
            <a:avLst/>
          </a:prstGeom>
          <a:solidFill>
            <a:srgbClr val="4A9085"/>
          </a:solidFill>
          <a:ln w="12700">
            <a:solidFill>
              <a:srgbClr val="4A9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33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Essex Online  |  MSc Computer Science  |  October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be happy to take questions at the end of the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pricing stability matter for retail SMEs?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920240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adjust automatically based on demand signals. Airlines, hotels and large retailers do this constantly (den Boer and Keskin, 2022).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Are Different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data. Small teams. Repeated customer interactions. The same customers come back week after week (Gouveia and Mamede, 2022).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10058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90488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Fairness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0488" y="1920240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notice when prices are inconsistent. Research confirms this damages trust and perceived fairness (Diao, Harutyunyan and Jiang, 2023).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8449056" cy="658368"/>
          </a:xfrm>
          <a:prstGeom prst="rect">
            <a:avLst/>
          </a:prstGeom>
          <a:solidFill>
            <a:srgbClr val="E8F4F1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118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asks: </a:t>
            </a:r>
            <a:pPr indent="0" marL="0">
              <a:buNone/>
            </a:pPr>
            <a:r>
              <a:rPr lang="en-US" sz="1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performs well on BOTH revenue AND pricing stability?</a:t>
            </a:r>
            <a:pPr indent="0" marL="0">
              <a:buNone/>
            </a:pPr>
            <a:r>
              <a:rPr lang="en-US" sz="12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just one.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8449056" cy="914400"/>
          </a:xfrm>
          <a:prstGeom prst="rect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8138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rule-based, machine learning-based, and hybrid dynamic pricing models compare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terms of pricing stability and revenue performance within retail SME contexts?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2103120"/>
            <a:ext cx="420624" cy="420624"/>
          </a:xfrm>
          <a:prstGeom prst="ellipse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7909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how rule-based, ML, and hybrid pricing approaches are conceptualised in the existing literature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807208"/>
            <a:ext cx="8449056" cy="10973"/>
          </a:xfrm>
          <a:prstGeom prst="rect">
            <a:avLst/>
          </a:prstGeom>
          <a:solidFill>
            <a:srgbClr val="D4EAE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926080"/>
            <a:ext cx="420624" cy="420624"/>
          </a:xfrm>
          <a:prstGeom prst="ellipse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7909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all three pricing models under identical experimental conditions: same data, same demand model, same candidate prices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630168"/>
            <a:ext cx="8449056" cy="10973"/>
          </a:xfrm>
          <a:prstGeom prst="rect">
            <a:avLst/>
          </a:prstGeom>
          <a:solidFill>
            <a:srgbClr val="D4EAE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749040"/>
            <a:ext cx="420624" cy="420624"/>
          </a:xfrm>
          <a:prstGeom prst="ellipse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703320"/>
            <a:ext cx="7909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compare revenue performance and pricing stability across all three strategies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466344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principle: identical conditions. Differences in results come from pricing logic only.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Experimental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II, UK transactions, 2010 to 2011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4241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10424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556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484,082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65960" y="1755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432304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688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24688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Selected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145536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821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65960" y="31821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858768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1,057 / 266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65960" y="38953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Testing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1005840"/>
            <a:ext cx="4315968" cy="3566160"/>
          </a:xfrm>
          <a:prstGeom prst="rect">
            <a:avLst/>
          </a:prstGeom>
          <a:solidFill>
            <a:srgbClr val="E8F4F1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Configuration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model: Single Linear Regression (shared)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2011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prices: 5 per day, from -5% to +5% of 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80% / 20%, chronological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strategies: same model, same candidates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3794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come from pricing logic only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Pricing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choose from the same five candidate prices. The difference is the rule they use to choose.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0120"/>
            <a:ext cx="2697480" cy="502920"/>
          </a:xfrm>
          <a:prstGeom prst="rect">
            <a:avLst/>
          </a:prstGeom>
          <a:solidFill>
            <a:srgbClr val="4A9085"/>
          </a:solidFill>
          <a:ln w="12700">
            <a:solidFill>
              <a:srgbClr val="4A9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78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Rule-Based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chooses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predicted demand to rolling average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±2% price adjustment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stability control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12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&amp; transparency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78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chooses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17739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highest predicted revenue candidate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24871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Unconstrained, picks any of 5 prices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10128" y="32004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stability control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3712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39136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optimisation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53328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53328" y="960120"/>
            <a:ext cx="2697480" cy="502920"/>
          </a:xfrm>
          <a:prstGeom prst="rect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978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Hybrid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63056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chooses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63056" y="17739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choice + constraints on movement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63056" y="24871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Clamped ±3%, smoothed 30/70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63056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63056" y="32004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Explicit stability control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63056" y="3712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63056" y="39136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7472" y="46634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price grid: 5 prices from -5% to +5% of the observed base price, identical for all three strategies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Hybrid Model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applied every single 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115568"/>
            <a:ext cx="640080" cy="640080"/>
          </a:xfrm>
          <a:prstGeom prst="ellipse">
            <a:avLst/>
          </a:prstGeom>
          <a:solidFill>
            <a:srgbClr val="4A9085"/>
          </a:solidFill>
          <a:ln w="12700">
            <a:solidFill>
              <a:srgbClr val="4A9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revenue-maximising candidate price.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starting point as the ML model.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2377440"/>
            <a:ext cx="182880" cy="36576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115568"/>
            <a:ext cx="640080" cy="640080"/>
          </a:xfrm>
          <a:prstGeom prst="ellipse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228600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price movement to within 3%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chosen price.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24728" y="2377440"/>
            <a:ext cx="182880" cy="36576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5040" y="100584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115568"/>
            <a:ext cx="640080" cy="640080"/>
          </a:xfrm>
          <a:prstGeom prst="ellipse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44768" y="187452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44768" y="228600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Blend: 30% new price + 70% yesterday's price.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gradual transitions.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069080"/>
            <a:ext cx="8449056" cy="658368"/>
          </a:xfrm>
          <a:prstGeom prst="rect">
            <a:avLst/>
          </a:prstGeom>
          <a:solidFill>
            <a:srgbClr val="E8F4F1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148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1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adapts to demand but responds in a controlled, gradual way. </a:t>
            </a:r>
            <a:pPr indent="0" marL="0">
              <a:buNone/>
            </a:pPr>
            <a:r>
              <a:rPr lang="en-US" sz="115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without being unpredictable.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 vs pricing stability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347472"/>
          </a:xfrm>
          <a:prstGeom prst="rect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  (higher is better)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4114800" cy="566928"/>
          </a:xfrm>
          <a:prstGeom prst="rect">
            <a:avLst/>
          </a:prstGeom>
          <a:solidFill>
            <a:srgbClr val="E8F4F1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04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149047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£393,990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4114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48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214884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£384,708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" y="2734056"/>
            <a:ext cx="4114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8072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8072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£378,588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" y="3456432"/>
            <a:ext cx="411480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ML and Hybrid: approx. £15,400, which is less than 4% of total revenue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960120"/>
            <a:ext cx="4114800" cy="347472"/>
          </a:xfrm>
          <a:prstGeom prst="rect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978408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STABILITY  (lower is better)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91456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82512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 Change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699248" y="1389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Jump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81728" y="1719072"/>
            <a:ext cx="4114800" cy="566928"/>
          </a:xfrm>
          <a:prstGeom prst="rect">
            <a:avLst/>
          </a:prstGeom>
          <a:solidFill>
            <a:srgbClr val="E8F4F1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17922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82512" y="17922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99248" y="17922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81728" y="2377440"/>
            <a:ext cx="4114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4505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24505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99248" y="24505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81728" y="3035808"/>
            <a:ext cx="4114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31089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31089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99248" y="31089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681728" y="3456432"/>
            <a:ext cx="4114800" cy="457200"/>
          </a:xfrm>
          <a:prstGeom prst="rect">
            <a:avLst/>
          </a:prstGeom>
          <a:solidFill>
            <a:srgbClr val="E8F4F1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49300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reduces price change magnitude by ~33%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4041648"/>
            <a:ext cx="8449056" cy="548640"/>
          </a:xfrm>
          <a:prstGeom prst="rect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7822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update prices at similar frequency (93 to 95% of days). The difference is the MAGNITUDE of each change, not how often prices change.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83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Overall strategy comparison and KPI summary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54864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414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Revenue performance charts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54864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099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Pricing stability charts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loads pre-computed results. No calculations are rerun.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Practical Implications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results mean for retail SMEs?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60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aggressively. Highest revenue but most volatile pricing (Kopalle </a:t>
            </a:r>
            <a:pPr indent="0" marL="0">
              <a:buNone/>
            </a:pPr>
            <a:r>
              <a:rPr lang="en-US" sz="1000" i="1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pPr indent="0" marL="0">
              <a:buNone/>
            </a:pPr>
            <a:r>
              <a:rPr lang="en-US" sz="10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2023). Requires data infrastructure many SMEs lack (Gouveia and Mamede, 2022).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84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Rule-Based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deploy and interpret (Das </a:t>
            </a:r>
            <a:pPr indent="0" marL="0">
              <a:buNone/>
            </a:pPr>
            <a:r>
              <a:rPr lang="en-US" sz="1000" i="1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pPr indent="0" marL="0">
              <a:buNone/>
            </a:pPr>
            <a:r>
              <a:rPr lang="en-US" sz="10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2024). But does not fully optimise revenue nor adequately control volatility. Sits in the middle on both.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054096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Hybrid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optimisation and stability are NOT mutually exclusive. Constraining price movement preserves competitive revenue (Shin, Vaccari and Zeevi, 2023).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3310128" cy="3072384"/>
          </a:xfrm>
          <a:prstGeom prst="rect">
            <a:avLst/>
          </a:prstGeom>
          <a:solidFill>
            <a:srgbClr val="E8F4F1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078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SMEs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1463040"/>
            <a:ext cx="822960" cy="2743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92240" y="1463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balance: stable prices with competitive revenue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23560" y="2267712"/>
            <a:ext cx="822960" cy="2743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267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92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starting point for businesses with minimal technical resource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3072384"/>
            <a:ext cx="822960" cy="2743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072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92240" y="307238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requires infrastructure many SMEs do not have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069080"/>
            <a:ext cx="8449056" cy="594360"/>
          </a:xfrm>
          <a:prstGeom prst="rect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gap of roughly £15,400 is less than 4% of total. That is a reasonable trade-off for 33% more stable pricing in a customer-facing retail environment.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984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comparative evaluation in a retail SME context, addressing a gap in the literature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" y="177393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stability treated as an explicit evaluation criterion alongside 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224942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implementation, publicly available on GitHub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1728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81728" y="12984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0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one country, five products. Findings may not generalise widely.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81728" y="177393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0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simulation using predicted demand, not real customer responses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81728" y="224942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0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stability used as a proxy for customer perception, not directly measured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1728" y="272491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050" dirty="0">
                <a:solidFill>
                  <a:srgbClr val="4A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demand model used as a fixed comparative baseline, not a forecasting contribution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310128"/>
            <a:ext cx="8449056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42900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749040"/>
            <a:ext cx="2697480" cy="777240"/>
          </a:xfrm>
          <a:prstGeom prst="rect">
            <a:avLst/>
          </a:prstGeom>
          <a:solidFill>
            <a:srgbClr val="4A9085"/>
          </a:solidFill>
          <a:ln w="12700">
            <a:solidFill>
              <a:srgbClr val="4A9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76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winner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40416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749040"/>
            <a:ext cx="2697480" cy="777240"/>
          </a:xfrm>
          <a:prstGeom prst="rect">
            <a:avLst/>
          </a:prstGeom>
          <a:solidFill>
            <a:srgbClr val="1E4D44"/>
          </a:solidFill>
          <a:ln w="12700">
            <a:solidFill>
              <a:srgbClr val="1E4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776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winner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0" y="40416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53328" y="3749040"/>
            <a:ext cx="2697480" cy="77724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3776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44768" y="40416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462686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systems should not be evaluated on revenue alone. Stability matters, and you do not have to sacrifice one for the other.   </a:t>
            </a:r>
            <a:pPr indent="0" marL="0">
              <a:buNone/>
            </a:pPr>
            <a:r>
              <a:rPr lang="en-US" sz="900" b="1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I am happy to take your questions.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F6B5F"/>
          </a:solidFill>
          <a:ln w="12700">
            <a:solidFill>
              <a:srgbClr val="2F6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6459"/>
          </a:xfrm>
          <a:prstGeom prst="rect">
            <a:avLst/>
          </a:prstGeom>
          <a:solidFill>
            <a:srgbClr val="C0D8D4"/>
          </a:solidFill>
          <a:ln w="12700">
            <a:solidFill>
              <a:srgbClr val="C0D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Boer, A.V. and Keskin, N.B. (2022) 'Dynamic Pricing with Demand Learning and Reference Effects',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Science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68(10), pp. 7112-7130. Available at: https://doi.org/10.1287/mnsc.2021.4234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8412480" cy="9144"/>
          </a:xfrm>
          <a:prstGeom prst="rect">
            <a:avLst/>
          </a:prstGeom>
          <a:solidFill>
            <a:srgbClr val="D4EAE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Das, P.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 'Optimizing Real-Time Dynamic Pricing Strategies in Retail and E-Commerce Using Machine Learning Models',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American Journal of Engineering and Technology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6(12), pp. 163-177. Available at: https://doi.org/10.37547/tajet/Volume06Issue12-15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9144"/>
          </a:xfrm>
          <a:prstGeom prst="rect">
            <a:avLst/>
          </a:prstGeom>
          <a:solidFill>
            <a:srgbClr val="D4EAE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042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Diao, W., Harutyunyan, M. and Jiang, B. (2023) 'Consumer Fairness Concerns and Dynamic Pricing in a Channel',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Science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42(3), pp. 569-588. Available at: https://doi.org/10.1287/mksc.2022.1395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8412480" cy="9144"/>
          </a:xfrm>
          <a:prstGeom prst="rect">
            <a:avLst/>
          </a:prstGeom>
          <a:solidFill>
            <a:srgbClr val="D4EAE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6265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Gouveia, F.D. and Mamede, H.S. (2022) 'Digital Transformation for SMES in the Retail Industry',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Procedia Computer Science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204, pp. 671-681. Available at: https://doi.org/10.1016/j.procs.2022.08.081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511296"/>
            <a:ext cx="8412480" cy="9144"/>
          </a:xfrm>
          <a:prstGeom prst="rect">
            <a:avLst/>
          </a:prstGeom>
          <a:solidFill>
            <a:srgbClr val="D4EAE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2102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Kopalle, P.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(2023) 'Dynamic pricing: Definition, implications for managers, and future research directions',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Retailing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99(4). Available at: https://doi.org/10.1016/j.jretai.2023.11.003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169664"/>
            <a:ext cx="8412480" cy="9144"/>
          </a:xfrm>
          <a:prstGeom prst="rect">
            <a:avLst/>
          </a:prstGeom>
          <a:solidFill>
            <a:srgbClr val="D4EAEA"/>
          </a:solidFill>
          <a:ln w="12700">
            <a:solidFill>
              <a:srgbClr val="D4E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793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Shin, D., Vaccari, S. and Zeevi, A. (2023) 'Dynamic Pricing with Online Reviews', </a:t>
            </a:r>
            <a:pPr indent="0" marL="0">
              <a:buNone/>
            </a:pPr>
            <a:r>
              <a:rPr lang="en-US" sz="9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Science</a:t>
            </a:r>
            <a:pPr indent="0" marL="0">
              <a:buNone/>
            </a:pPr>
            <a:r>
              <a:rPr lang="en-US" sz="9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69(2), pp. 824-845. Available at: https://doi.org/10.1287/mnsc.2022.4387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Gore  |  MSc Computer Science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Pricing MSc Dissertation</dc:title>
  <dc:subject>PptxGenJS Presentation</dc:subject>
  <dc:creator>Shraddha Gore</dc:creator>
  <cp:lastModifiedBy>Shraddha Gore</cp:lastModifiedBy>
  <cp:revision>1</cp:revision>
  <dcterms:created xsi:type="dcterms:W3CDTF">2026-05-16T04:26:19Z</dcterms:created>
  <dcterms:modified xsi:type="dcterms:W3CDTF">2026-05-16T04:26:19Z</dcterms:modified>
</cp:coreProperties>
</file>